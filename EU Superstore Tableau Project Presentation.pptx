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33495" cy="6858000"/>
          </a:xfrm>
          <a:prstGeom prst="rect">
            <a:avLst/>
          </a:prstGeom>
          <a:solidFill>
            <a:srgbClr val="273045"/>
          </a:solidFill>
          <a:ln>
            <a:solidFill>
              <a:srgbClr val="27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58200" y="0"/>
            <a:ext cx="109728" cy="6858000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41248"/>
            <a:ext cx="512064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4000" b="1" dirty="0">
                <a:solidFill>
                  <a:srgbClr val="DE1848"/>
                </a:solidFill>
                <a:latin typeface="Aptos"/>
              </a:rPr>
              <a:t>TABLEAU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72768"/>
            <a:ext cx="7223760" cy="6709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4000" b="1" dirty="0">
                <a:solidFill>
                  <a:srgbClr val="F7F8FB"/>
                </a:solidFill>
                <a:latin typeface="Aptos"/>
              </a:rPr>
              <a:t>EU Superstore</a:t>
            </a:r>
            <a:r>
              <a:rPr lang="en-US" sz="4000" b="1" dirty="0">
                <a:solidFill>
                  <a:srgbClr val="F7F8FB"/>
                </a:solidFill>
                <a:latin typeface="Aptos"/>
              </a:rPr>
              <a:t> </a:t>
            </a:r>
            <a:r>
              <a:rPr sz="4000" b="1" dirty="0">
                <a:solidFill>
                  <a:srgbClr val="F7F8FB"/>
                </a:solidFill>
                <a:latin typeface="Aptos"/>
              </a:rPr>
              <a:t>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715179"/>
            <a:ext cx="6720840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b="0" dirty="0">
                <a:solidFill>
                  <a:srgbClr val="B9C0CF"/>
                </a:solidFill>
                <a:latin typeface="Aptos"/>
              </a:rPr>
              <a:t>Interactive business intelligence dashboards for customer, sales and order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315968"/>
            <a:ext cx="68580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F7F8FB"/>
                </a:solidFill>
                <a:latin typeface="Aptos"/>
              </a:rPr>
              <a:t>Tools: Tableau  •  Excel  •  Calculated Fields  • 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806440"/>
            <a:ext cx="56692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 dirty="0">
                <a:solidFill>
                  <a:srgbClr val="B9C0CF"/>
                </a:solidFill>
                <a:latin typeface="Aptos"/>
              </a:rPr>
              <a:t>Prepared by: Priyanka </a:t>
            </a:r>
            <a:r>
              <a:rPr sz="1600" b="0" dirty="0" err="1">
                <a:solidFill>
                  <a:srgbClr val="B9C0CF"/>
                </a:solidFill>
                <a:latin typeface="Aptos"/>
              </a:rPr>
              <a:t>Asalekar</a:t>
            </a:r>
            <a:endParaRPr sz="1600" b="0" dirty="0">
              <a:solidFill>
                <a:srgbClr val="B9C0C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979408" y="91440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81F31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17152" y="1033271"/>
            <a:ext cx="12344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B9C0CF"/>
                </a:solidFill>
                <a:latin typeface="Aptos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1051560"/>
            <a:ext cx="1051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DE1848"/>
                </a:solidFill>
                <a:latin typeface="Aptos"/>
              </a:rPr>
              <a:t>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8" y="1856232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81F31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1975104"/>
            <a:ext cx="12344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B9C0CF"/>
                </a:solidFill>
                <a:latin typeface="Aptos"/>
              </a:rPr>
              <a:t>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1993392"/>
            <a:ext cx="1051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DE1848"/>
                </a:solidFill>
                <a:latin typeface="Aptos"/>
              </a:rPr>
              <a:t>TRENDS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8" y="2798064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81F31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2916936"/>
            <a:ext cx="12344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B9C0CF"/>
                </a:solidFill>
                <a:latin typeface="Aptos"/>
              </a:rP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2935224"/>
            <a:ext cx="10515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DE1848"/>
                </a:solidFill>
                <a:latin typeface="Aptos"/>
              </a:rPr>
              <a:t>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5184648"/>
            <a:ext cx="201168" cy="530352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91472" y="4846320"/>
            <a:ext cx="201168" cy="868680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84663" y="5056632"/>
            <a:ext cx="201168" cy="658368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77855" y="4480560"/>
            <a:ext cx="201168" cy="1234440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671048" y="4690872"/>
            <a:ext cx="201168" cy="1024128"/>
          </a:xfrm>
          <a:prstGeom prst="rect">
            <a:avLst/>
          </a:prstGeom>
          <a:solidFill>
            <a:srgbClr val="5B6F97"/>
          </a:solidFill>
          <a:ln>
            <a:solidFill>
              <a:srgbClr val="5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064240" y="4233672"/>
            <a:ext cx="201168" cy="148132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12346" y="3881628"/>
            <a:ext cx="26517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 dirty="0">
                <a:solidFill>
                  <a:srgbClr val="F7F8FB"/>
                </a:solidFill>
                <a:latin typeface="Aptos"/>
              </a:rPr>
              <a:t>INTERACTIVE DATA 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624" y="1298448"/>
            <a:ext cx="10698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B9C0CF"/>
                </a:solidFill>
                <a:latin typeface="Aptos"/>
              </a:rPr>
              <a:t>A Tableau project built on the EU Superstore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 dirty="0">
                <a:solidFill>
                  <a:srgbClr val="B9C0CF"/>
                </a:solidFill>
                <a:latin typeface="Aptos"/>
              </a:rPr>
              <a:t>TABLEAU SUPERSTORE ANALYSIS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287000" cy="7325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200" dirty="0">
                <a:solidFill>
                  <a:schemeClr val="bg1"/>
                </a:solidFill>
              </a:rPr>
              <a:t>This project explores retail orders and customer activity using the Orders sheet, which contains 10,000 order-line records across 20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10287000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B9C0CF"/>
                </a:solidFill>
                <a:latin typeface="Aptos"/>
              </a:rPr>
              <a:t>The packaged Tableau workbook includes customer analysis, sales and order KPI sheets, delivery-time analysis, product/customer rankings, and a dynamic X–Y view that lets users choose a dimension and measure.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26280"/>
            <a:ext cx="4572000" cy="1280160"/>
          </a:xfrm>
          <a:prstGeom prst="roundRect">
            <a:avLst>
              <a:gd name="adj" fmla="val 12000"/>
            </a:avLst>
          </a:prstGeom>
          <a:solidFill>
            <a:srgbClr val="273045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718304"/>
            <a:ext cx="18288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 dirty="0">
                <a:solidFill>
                  <a:srgbClr val="DE1848"/>
                </a:solidFill>
                <a:latin typeface="Aptos"/>
              </a:rPr>
              <a:t>PROJECT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074920"/>
            <a:ext cx="40233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sz="1600" b="1" dirty="0">
                <a:solidFill>
                  <a:srgbClr val="F7F8FB"/>
                </a:solidFill>
                <a:latin typeface="Aptos"/>
              </a:rPr>
              <a:t>Tableau </a:t>
            </a:r>
            <a:r>
              <a:rPr sz="1600" b="1" dirty="0">
                <a:solidFill>
                  <a:srgbClr val="F7F8FB"/>
                </a:solidFill>
                <a:latin typeface="Aptos"/>
              </a:rPr>
              <a:t>Sample EU Superstore sales </a:t>
            </a:r>
            <a:r>
              <a:rPr sz="1600" b="1" dirty="0" err="1">
                <a:solidFill>
                  <a:srgbClr val="F7F8FB"/>
                </a:solidFill>
                <a:latin typeface="Aptos"/>
              </a:rPr>
              <a:t>analysis.twbx</a:t>
            </a:r>
            <a:endParaRPr sz="1600" b="1" dirty="0">
              <a:solidFill>
                <a:srgbClr val="F7F8FB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06440" y="4526280"/>
            <a:ext cx="4572000" cy="1280160"/>
          </a:xfrm>
          <a:prstGeom prst="roundRect">
            <a:avLst>
              <a:gd name="adj" fmla="val 12000"/>
            </a:avLst>
          </a:prstGeom>
          <a:solidFill>
            <a:srgbClr val="273045"/>
          </a:solidFill>
          <a:ln>
            <a:solidFill>
              <a:srgbClr val="44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4718304"/>
            <a:ext cx="18288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 dirty="0">
                <a:solidFill>
                  <a:srgbClr val="DE1848"/>
                </a:solidFill>
                <a:latin typeface="Aptos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035592"/>
            <a:ext cx="3977639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 dirty="0">
                <a:solidFill>
                  <a:srgbClr val="F7F8FB"/>
                </a:solidFill>
                <a:latin typeface="Aptos"/>
              </a:rPr>
              <a:t>Sample - EU Superstore.xlsx                              •  Orders sheet: 10,000 rows  •  20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10698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B9C0CF"/>
                </a:solidFill>
                <a:latin typeface="Aptos"/>
              </a:rPr>
              <a:t>Use interactive Tableau views to understand retail performance from different perspectives.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>
                <a:solidFill>
                  <a:srgbClr val="B9C0CF"/>
                </a:solidFill>
                <a:latin typeface="Aptos"/>
              </a:rPr>
              <a:t>TABLEAU SUPERSTORE ANALYSIS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10896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44032"/>
            <a:ext cx="4114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F7F8F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73936"/>
            <a:ext cx="9509760" cy="7632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300" b="0" dirty="0">
                <a:solidFill>
                  <a:srgbClr val="F7F8FB"/>
                </a:solidFill>
                <a:latin typeface="Aptos"/>
              </a:rPr>
              <a:t>Track key metrics such as total orders, customers, quantity, sales and average order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05528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38664"/>
            <a:ext cx="4114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F7F8FB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98064"/>
            <a:ext cx="9509760" cy="7632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300" b="0" dirty="0">
                <a:solidFill>
                  <a:srgbClr val="F7F8FB"/>
                </a:solidFill>
                <a:latin typeface="Aptos"/>
              </a:rPr>
              <a:t>Analyze customer purchase frequency and identify top customers by sales or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988648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41448"/>
            <a:ext cx="4114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F7F8F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822192"/>
            <a:ext cx="9509760" cy="7632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300" b="0" dirty="0">
                <a:solidFill>
                  <a:srgbClr val="F7F8FB"/>
                </a:solidFill>
                <a:latin typeface="Aptos"/>
              </a:rPr>
              <a:t>Compare sales, profit and order behavior over time, including year/quarter/month trends.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973448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026248"/>
            <a:ext cx="41148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F7F8FB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846320"/>
            <a:ext cx="9509760" cy="7632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300" b="0" dirty="0">
                <a:solidFill>
                  <a:srgbClr val="F7F8FB"/>
                </a:solidFill>
                <a:latin typeface="Aptos"/>
              </a:rPr>
              <a:t>Explore delivery performance and orders by ship mode, with dynamic dimension and measure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Tools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298448"/>
            <a:ext cx="106984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200" b="0" dirty="0">
                <a:solidFill>
                  <a:srgbClr val="B9C0CF"/>
                </a:solidFill>
                <a:latin typeface="Aptos"/>
              </a:rPr>
              <a:t>Technology used and the process represented by the Tableau workbook.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>
                <a:solidFill>
                  <a:srgbClr val="B9C0CF"/>
                </a:solidFill>
                <a:latin typeface="Aptos"/>
              </a:rPr>
              <a:t>TABLEAU SUPERSTORE ANALYSIS  •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38404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200" b="1" dirty="0">
                <a:solidFill>
                  <a:srgbClr val="DE1848"/>
                </a:solidFill>
                <a:latin typeface="Aptos"/>
              </a:rPr>
              <a:t>TOOLS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sz="1900" b="0" dirty="0">
                <a:solidFill>
                  <a:srgbClr val="F7F8FB"/>
                </a:solidFill>
                <a:latin typeface="Aptos"/>
              </a:rPr>
              <a:t>• Tableau Desktop — worksheets and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07488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sz="1900" b="0" dirty="0">
                <a:solidFill>
                  <a:srgbClr val="F7F8FB"/>
                </a:solidFill>
                <a:latin typeface="Aptos"/>
              </a:rPr>
              <a:t>• Excel workbook — Orders, Returns and People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68609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sz="1900" b="0" dirty="0">
                <a:solidFill>
                  <a:srgbClr val="F7F8FB"/>
                </a:solidFill>
                <a:latin typeface="Aptos"/>
              </a:rPr>
              <a:t>• Calculated fields — AOV, delivery days and KPI totals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9391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sz="1900" b="0" dirty="0">
                <a:solidFill>
                  <a:srgbClr val="F7F8FB"/>
                </a:solidFill>
                <a:latin typeface="Aptos"/>
              </a:rPr>
              <a:t>• Parameters — choose X-axis dimension, Y-axis measure and Top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99006"/>
            <a:ext cx="425196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sz="1900" b="0" dirty="0">
                <a:solidFill>
                  <a:srgbClr val="F7F8FB"/>
                </a:solidFill>
                <a:latin typeface="Aptos"/>
              </a:rPr>
              <a:t>• Filters and dashboard actions </a:t>
            </a:r>
            <a:r>
              <a:rPr lang="en-US" sz="1900" b="0" dirty="0">
                <a:solidFill>
                  <a:srgbClr val="F7F8FB"/>
                </a:solidFill>
                <a:latin typeface="Aptos"/>
              </a:rPr>
              <a:t>-</a:t>
            </a:r>
            <a:r>
              <a:rPr sz="1900" b="0" dirty="0">
                <a:solidFill>
                  <a:srgbClr val="F7F8FB"/>
                </a:solidFill>
                <a:latin typeface="Aptos"/>
              </a:rPr>
              <a:t> interactive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828800"/>
            <a:ext cx="274320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200" b="1" dirty="0">
                <a:solidFill>
                  <a:srgbClr val="DE1848"/>
                </a:solidFill>
                <a:latin typeface="Aptos"/>
              </a:rPr>
              <a:t>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2316872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50992" y="2340864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49424"/>
            <a:ext cx="480060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Connect to the EU Superstore Excel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2948496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650992" y="2962656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F7F8FB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871216"/>
            <a:ext cx="480060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Create calculated fields and KPI worksheets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0992" y="3570288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50992" y="3584448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493008"/>
            <a:ext cx="480060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Build customer, sales and delivery 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0992" y="4192079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50992" y="4206240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F7F8FB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114800"/>
            <a:ext cx="4800600" cy="64017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Add parameters, filters and dashboard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50992" y="4804040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50992" y="4828032"/>
            <a:ext cx="32918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7F8FB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736592"/>
            <a:ext cx="4800600" cy="3477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900" b="0" dirty="0">
                <a:solidFill>
                  <a:srgbClr val="F7F8FB"/>
                </a:solidFill>
                <a:latin typeface="Aptos"/>
              </a:rPr>
              <a:t>Combine views into interactive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D7F08-9BD8-1448-583C-94FC1A22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B8F892-1C08-AA4A-2A3C-F96525F93C6E}"/>
              </a:ext>
            </a:extLst>
          </p:cNvPr>
          <p:cNvSpPr txBox="1"/>
          <p:nvPr/>
        </p:nvSpPr>
        <p:spPr>
          <a:xfrm>
            <a:off x="5309" y="-5016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 dirty="0">
                <a:solidFill>
                  <a:srgbClr val="F7F8FB"/>
                </a:solidFill>
                <a:latin typeface="Aptos"/>
              </a:rPr>
              <a:t>Project Visualizations</a:t>
            </a:r>
            <a:r>
              <a:rPr lang="en-US" sz="2800" b="1" dirty="0">
                <a:solidFill>
                  <a:srgbClr val="F7F8FB"/>
                </a:solidFill>
                <a:latin typeface="Aptos"/>
              </a:rPr>
              <a:t> -: Sales Analysis</a:t>
            </a:r>
            <a:endParaRPr sz="2800" b="1" dirty="0">
              <a:solidFill>
                <a:srgbClr val="F7F8FB"/>
              </a:solidFill>
              <a:latin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17DB12-4A1D-05F5-CEB5-3D902AEDE3A6}"/>
              </a:ext>
            </a:extLst>
          </p:cNvPr>
          <p:cNvSpPr/>
          <p:nvPr/>
        </p:nvSpPr>
        <p:spPr>
          <a:xfrm>
            <a:off x="64298" y="441961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A3C3D-FA12-B83C-37EC-FE7E7DAF1E03}"/>
              </a:ext>
            </a:extLst>
          </p:cNvPr>
          <p:cNvSpPr txBox="1"/>
          <p:nvPr/>
        </p:nvSpPr>
        <p:spPr>
          <a:xfrm>
            <a:off x="623367" y="6658008"/>
            <a:ext cx="457200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 dirty="0">
                <a:solidFill>
                  <a:srgbClr val="B9C0CF"/>
                </a:solidFill>
                <a:latin typeface="Aptos"/>
              </a:rPr>
              <a:t>TABLEAU SUPERSTORE ANALYSIS  •  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F9C7D2F-09BE-9ADD-A58F-EE9968876CF5}"/>
              </a:ext>
            </a:extLst>
          </p:cNvPr>
          <p:cNvSpPr/>
          <p:nvPr/>
        </p:nvSpPr>
        <p:spPr>
          <a:xfrm>
            <a:off x="896112" y="1225296"/>
            <a:ext cx="10378440" cy="5193792"/>
          </a:xfrm>
          <a:prstGeom prst="roundRect">
            <a:avLst>
              <a:gd name="adj" fmla="val 12000"/>
            </a:avLst>
          </a:prstGeom>
          <a:solidFill>
            <a:srgbClr val="273045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90A973-EE56-9601-F7A3-CA5DB48C5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8" y="550313"/>
            <a:ext cx="12058876" cy="610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05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520" y="-19664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 dirty="0">
                <a:solidFill>
                  <a:srgbClr val="F7F8FB"/>
                </a:solidFill>
                <a:latin typeface="Aptos"/>
              </a:rPr>
              <a:t>Project Visualizations</a:t>
            </a:r>
            <a:r>
              <a:rPr lang="en-US" sz="2800" b="1" dirty="0">
                <a:solidFill>
                  <a:srgbClr val="F7F8FB"/>
                </a:solidFill>
                <a:latin typeface="Aptos"/>
              </a:rPr>
              <a:t> -: Customer &amp; Order Analysis</a:t>
            </a:r>
            <a:endParaRPr sz="2800" b="1" dirty="0">
              <a:solidFill>
                <a:srgbClr val="F7F8FB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302" y="451796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225296"/>
            <a:ext cx="10378440" cy="5193792"/>
          </a:xfrm>
          <a:prstGeom prst="roundRect">
            <a:avLst>
              <a:gd name="adj" fmla="val 12000"/>
            </a:avLst>
          </a:prstGeom>
          <a:solidFill>
            <a:srgbClr val="273045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FB560-FAFC-B03F-5F98-3AD912F00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" y="602864"/>
            <a:ext cx="12068704" cy="6045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3254A0-5BE0-7040-4418-967AC5F57EAC}"/>
              </a:ext>
            </a:extLst>
          </p:cNvPr>
          <p:cNvSpPr txBox="1"/>
          <p:nvPr/>
        </p:nvSpPr>
        <p:spPr>
          <a:xfrm>
            <a:off x="623367" y="6658008"/>
            <a:ext cx="457200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 dirty="0">
                <a:solidFill>
                  <a:srgbClr val="B9C0CF"/>
                </a:solidFill>
                <a:latin typeface="Aptos"/>
              </a:rPr>
              <a:t>TABLEAU SUPERSTORE ANALYSIS  •  0</a:t>
            </a:r>
            <a:r>
              <a:rPr lang="en-US" sz="850" b="1" dirty="0">
                <a:solidFill>
                  <a:srgbClr val="B9C0CF"/>
                </a:solidFill>
                <a:latin typeface="Aptos"/>
              </a:rPr>
              <a:t>6</a:t>
            </a:r>
            <a:endParaRPr sz="850" b="1" dirty="0">
              <a:solidFill>
                <a:srgbClr val="B9C0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6984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2900" b="1">
                <a:solidFill>
                  <a:srgbClr val="F6F7FA"/>
                </a:solidFill>
                <a:latin typeface="Aptos"/>
              </a:rPr>
              <a:t>Key Findings from the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87552"/>
            <a:ext cx="960120" cy="64008"/>
          </a:xfrm>
          <a:prstGeom prst="rect">
            <a:avLst/>
          </a:prstGeom>
          <a:solidFill>
            <a:srgbClr val="E01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17905"/>
            <a:ext cx="2514600" cy="1262455"/>
          </a:xfrm>
          <a:prstGeom prst="roundRect">
            <a:avLst/>
          </a:prstGeom>
          <a:solidFill>
            <a:srgbClr val="273148"/>
          </a:solidFill>
          <a:ln>
            <a:solidFill>
              <a:srgbClr val="3E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65576"/>
            <a:ext cx="224028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E0124B"/>
                </a:solidFill>
                <a:latin typeface="Aptos"/>
              </a:rP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2331720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IN" sz="2200" b="1" dirty="0">
                <a:solidFill>
                  <a:srgbClr val="F6F7FA"/>
                </a:solidFill>
                <a:latin typeface="Aptos"/>
              </a:rPr>
              <a:t>₹ </a:t>
            </a:r>
            <a:r>
              <a:rPr sz="2200" b="1" dirty="0">
                <a:solidFill>
                  <a:srgbClr val="F6F7FA"/>
                </a:solidFill>
                <a:latin typeface="Aptos"/>
              </a:rPr>
              <a:t>2,938,089.06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17905"/>
            <a:ext cx="2514600" cy="1262455"/>
          </a:xfrm>
          <a:prstGeom prst="roundRect">
            <a:avLst/>
          </a:prstGeom>
          <a:solidFill>
            <a:srgbClr val="273148"/>
          </a:solidFill>
          <a:ln>
            <a:solidFill>
              <a:srgbClr val="3E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1885240"/>
            <a:ext cx="224028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E0124B"/>
                </a:solidFill>
                <a:latin typeface="Aptos"/>
              </a:rPr>
              <a:t>TOTAL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304288"/>
            <a:ext cx="2331720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IN" sz="2200" b="1" dirty="0">
                <a:solidFill>
                  <a:srgbClr val="F6F7FA"/>
                </a:solidFill>
                <a:latin typeface="Aptos"/>
              </a:rPr>
              <a:t>₹ </a:t>
            </a:r>
            <a:r>
              <a:rPr sz="2200" b="1" dirty="0">
                <a:solidFill>
                  <a:srgbClr val="F6F7FA"/>
                </a:solidFill>
                <a:latin typeface="Aptos"/>
              </a:rPr>
              <a:t>372,829.74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17904"/>
            <a:ext cx="2514600" cy="1262455"/>
          </a:xfrm>
          <a:prstGeom prst="roundRect">
            <a:avLst/>
          </a:prstGeom>
          <a:solidFill>
            <a:srgbClr val="273148"/>
          </a:solidFill>
          <a:ln>
            <a:solidFill>
              <a:srgbClr val="3E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904904"/>
            <a:ext cx="224028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E0124B"/>
                </a:solidFill>
                <a:latin typeface="Aptos"/>
              </a:rPr>
              <a:t>UNITS / 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04288"/>
            <a:ext cx="2331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F6F7FA"/>
                </a:solidFill>
                <a:latin typeface="Aptos"/>
              </a:rPr>
              <a:t>37,773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617904"/>
            <a:ext cx="2514600" cy="1262455"/>
          </a:xfrm>
          <a:prstGeom prst="roundRect">
            <a:avLst/>
          </a:prstGeom>
          <a:solidFill>
            <a:srgbClr val="273148"/>
          </a:solidFill>
          <a:ln>
            <a:solidFill>
              <a:srgbClr val="3E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40" y="1914736"/>
            <a:ext cx="224028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dirty="0">
                <a:solidFill>
                  <a:srgbClr val="E0124B"/>
                </a:solidFill>
                <a:latin typeface="Aptos"/>
              </a:rPr>
              <a:t>DISTINCT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304288"/>
            <a:ext cx="2331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F6F7FA"/>
                </a:solidFill>
                <a:latin typeface="Aptos"/>
              </a:rPr>
              <a:t>4,596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46120"/>
            <a:ext cx="5074920" cy="2541922"/>
          </a:xfrm>
          <a:prstGeom prst="roundRect">
            <a:avLst/>
          </a:prstGeom>
          <a:solidFill>
            <a:srgbClr val="273148"/>
          </a:solidFill>
          <a:ln>
            <a:solidFill>
              <a:srgbClr val="3E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3410712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E0124B"/>
                </a:solidFill>
                <a:latin typeface="Aptos"/>
              </a:rPr>
              <a:t>                                 </a:t>
            </a:r>
            <a:r>
              <a:rPr sz="2000" b="1" dirty="0">
                <a:solidFill>
                  <a:srgbClr val="E0124B"/>
                </a:solidFill>
                <a:latin typeface="Aptos"/>
              </a:rPr>
              <a:t>SALES </a:t>
            </a:r>
            <a:r>
              <a:rPr lang="en-US" sz="2000" b="1" dirty="0">
                <a:solidFill>
                  <a:srgbClr val="E0124B"/>
                </a:solidFill>
                <a:latin typeface="Aptos"/>
              </a:rPr>
              <a:t>ANALYSIS</a:t>
            </a:r>
            <a:endParaRPr sz="2000" b="1" dirty="0">
              <a:solidFill>
                <a:srgbClr val="E0124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4128" y="3840480"/>
            <a:ext cx="4672583" cy="133728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Top category by sales: Technology (~1.11M)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Next: Office Supplies (~1.05M)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Then: Furniture (~0.78M)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Highest-sales region: Central (~1.72M)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46120"/>
            <a:ext cx="5074920" cy="2541922"/>
          </a:xfrm>
          <a:prstGeom prst="roundRect">
            <a:avLst/>
          </a:prstGeom>
          <a:solidFill>
            <a:srgbClr val="273148"/>
          </a:solidFill>
          <a:ln>
            <a:solidFill>
              <a:srgbClr val="3E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3410712"/>
            <a:ext cx="4672583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E0124B"/>
                </a:solidFill>
                <a:latin typeface="Aptos"/>
              </a:rPr>
              <a:t>                   </a:t>
            </a:r>
            <a:r>
              <a:rPr sz="2000" b="1" dirty="0">
                <a:solidFill>
                  <a:srgbClr val="E0124B"/>
                </a:solidFill>
                <a:latin typeface="Aptos"/>
              </a:rPr>
              <a:t>ORDER &amp; DELIVERY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840480"/>
            <a:ext cx="4672583" cy="16142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Average order value: 639.27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Average order-to-ship time: 4.01 days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Standard Class: 2,857 distinct orders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F6F7FA"/>
                </a:solidFill>
                <a:latin typeface="Aptos"/>
              </a:rPr>
              <a:t>Second Class: 1,014 • First Class: 760 • Same Day: 266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4D8BBD-3254-73D3-1D62-7CD48CF1B0EB}"/>
              </a:ext>
            </a:extLst>
          </p:cNvPr>
          <p:cNvSpPr txBox="1"/>
          <p:nvPr/>
        </p:nvSpPr>
        <p:spPr>
          <a:xfrm>
            <a:off x="623367" y="6559688"/>
            <a:ext cx="457200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 dirty="0">
                <a:solidFill>
                  <a:srgbClr val="B9C0CF"/>
                </a:solidFill>
                <a:latin typeface="Aptos"/>
              </a:rPr>
              <a:t>TABLEAU SUPERSTORE ANALYSIS  •  0</a:t>
            </a:r>
            <a:r>
              <a:rPr lang="en-US" sz="850" b="1" dirty="0">
                <a:solidFill>
                  <a:srgbClr val="B9C0CF"/>
                </a:solidFill>
                <a:latin typeface="Aptos"/>
              </a:rPr>
              <a:t>7</a:t>
            </a:r>
            <a:endParaRPr sz="850" b="1" dirty="0">
              <a:solidFill>
                <a:srgbClr val="B9C0C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>
                <a:solidFill>
                  <a:srgbClr val="F7F8FB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51560"/>
            <a:ext cx="1005840" cy="64008"/>
          </a:xfrm>
          <a:prstGeom prst="rect">
            <a:avLst/>
          </a:prstGeom>
          <a:solidFill>
            <a:srgbClr val="DE1848"/>
          </a:solidFill>
          <a:ln>
            <a:solidFill>
              <a:srgbClr val="DE1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6956" y="1298448"/>
            <a:ext cx="106984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B9C0CF"/>
                </a:solidFill>
                <a:latin typeface="Aptos"/>
              </a:rPr>
              <a:t>Summary of the project value and Tableau skills demonstrated.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10241280" cy="868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1">
                <a:solidFill>
                  <a:srgbClr val="F7F8FB"/>
                </a:solidFill>
                <a:latin typeface="Aptos"/>
              </a:rPr>
              <a:t>This project demonstrates how Tableau can turn retail order data into interactive views for monitoring sales, understanding customer behavior and reviewing delivery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0"/>
            <a:ext cx="3840480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200" b="1" dirty="0">
                <a:solidFill>
                  <a:srgbClr val="DE1848"/>
                </a:solidFill>
                <a:latin typeface="Aptos"/>
              </a:rPr>
              <a:t>KEY LEARNING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86868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F7F8FB"/>
                </a:solidFill>
                <a:latin typeface="Aptos"/>
              </a:rPr>
              <a:t>• Building worksheets and combining them into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87368"/>
            <a:ext cx="86868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F7F8FB"/>
                </a:solidFill>
                <a:latin typeface="Aptos"/>
              </a:rPr>
              <a:t>• Creating calculated fields and KPI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62856"/>
            <a:ext cx="86868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F7F8FB"/>
                </a:solidFill>
                <a:latin typeface="Aptos"/>
              </a:rPr>
              <a:t>• Using parameters for dynamic X–Y analysis and Top N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38344"/>
            <a:ext cx="86868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000" b="0" dirty="0">
                <a:solidFill>
                  <a:srgbClr val="F7F8FB"/>
                </a:solidFill>
                <a:latin typeface="Aptos"/>
              </a:rPr>
              <a:t>• Applying filters and dashboard actions to explore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599AA-D3B7-405D-7A70-8CCB0970D8B0}"/>
              </a:ext>
            </a:extLst>
          </p:cNvPr>
          <p:cNvSpPr txBox="1"/>
          <p:nvPr/>
        </p:nvSpPr>
        <p:spPr>
          <a:xfrm>
            <a:off x="623367" y="6559688"/>
            <a:ext cx="457200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850" b="1" dirty="0">
                <a:solidFill>
                  <a:srgbClr val="B9C0CF"/>
                </a:solidFill>
                <a:latin typeface="Aptos"/>
              </a:rPr>
              <a:t>TABLEAU SUPERSTORE ANALYSIS  •  0</a:t>
            </a:r>
            <a:r>
              <a:rPr lang="en-US" sz="850" b="1" dirty="0">
                <a:solidFill>
                  <a:srgbClr val="B9C0CF"/>
                </a:solidFill>
                <a:latin typeface="Aptos"/>
              </a:rPr>
              <a:t>8</a:t>
            </a:r>
            <a:endParaRPr sz="850" b="1" dirty="0">
              <a:solidFill>
                <a:srgbClr val="B9C0C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538</Words>
  <Application>Microsoft Office PowerPoint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Dattatray Jadhav</cp:lastModifiedBy>
  <cp:revision>3</cp:revision>
  <dcterms:created xsi:type="dcterms:W3CDTF">2013-01-27T09:14:16Z</dcterms:created>
  <dcterms:modified xsi:type="dcterms:W3CDTF">2026-10-24T09:49:54Z</dcterms:modified>
  <cp:category/>
</cp:coreProperties>
</file>